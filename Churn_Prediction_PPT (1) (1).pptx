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8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0CA813-2397-3ABE-B2E1-17460233BAFE}" v="181" dt="2026-04-27T10:39:53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34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557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Month-to-Month</c:v>
                </c:pt>
                <c:pt idx="1">
                  <c:v>Fiber Optic</c:v>
                </c:pt>
                <c:pt idx="2">
                  <c:v>Elec. Check</c:v>
                </c:pt>
                <c:pt idx="3">
                  <c:v>No TechSupport</c:v>
                </c:pt>
                <c:pt idx="4">
                  <c:v>Senior Citizen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42.7</c:v>
                </c:pt>
                <c:pt idx="1">
                  <c:v>41.9</c:v>
                </c:pt>
                <c:pt idx="2">
                  <c:v>45.3</c:v>
                </c:pt>
                <c:pt idx="3">
                  <c:v>41.9</c:v>
                </c:pt>
                <c:pt idx="4">
                  <c:v>41.7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B2-4CDA-A4D6-923523756D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7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25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5C4AE4">
              <a:alpha val="82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 Churn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7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4871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Telecom Companies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12801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Predictive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 Dataset  |  Kaggle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640080"/>
            <a:ext cx="3566160" cy="960120"/>
          </a:xfrm>
          <a:prstGeom prst="rect">
            <a:avLst/>
          </a:prstGeom>
          <a:solidFill>
            <a:srgbClr val="1A2740"/>
          </a:solidFill>
          <a:ln w="1270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704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949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920240"/>
            <a:ext cx="3566160" cy="960120"/>
          </a:xfrm>
          <a:prstGeom prst="rect">
            <a:avLst/>
          </a:prstGeom>
          <a:solidFill>
            <a:srgbClr val="1A2740"/>
          </a:solidFill>
          <a:ln w="1270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9496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3200400"/>
            <a:ext cx="3566160" cy="960120"/>
          </a:xfrm>
          <a:prstGeom prst="rect">
            <a:avLst/>
          </a:prstGeom>
          <a:solidFill>
            <a:srgbClr val="1A2740"/>
          </a:solidFill>
          <a:ln w="1270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3264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9496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</a:t>
            </a:r>
            <a:endParaRPr lang="en-US" sz="12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0C4BD5B-1A08-E0D3-40EB-0959AB01AFA3}"/>
              </a:ext>
            </a:extLst>
          </p:cNvPr>
          <p:cNvSpPr/>
          <p:nvPr/>
        </p:nvSpPr>
        <p:spPr>
          <a:xfrm>
            <a:off x="365759" y="4264297"/>
            <a:ext cx="42062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Members</a:t>
            </a:r>
          </a:p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Abhitha Raj S R</a:t>
            </a:r>
          </a:p>
          <a:p>
            <a:r>
              <a:rPr lang="en-US" sz="1600" dirty="0" err="1">
                <a:solidFill>
                  <a:srgbClr val="FFFFFF"/>
                </a:solidFill>
                <a:ea typeface="Calibri"/>
                <a:cs typeface="Calibri"/>
              </a:rPr>
              <a:t>Ananthanarayanan</a:t>
            </a:r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 B</a:t>
            </a:r>
          </a:p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Lanka Priya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48A61B8E-14C5-595B-AF51-19511566E192}"/>
              </a:ext>
            </a:extLst>
          </p:cNvPr>
          <p:cNvSpPr/>
          <p:nvPr/>
        </p:nvSpPr>
        <p:spPr>
          <a:xfrm>
            <a:off x="3653" y="3653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092DC29-F43F-E819-B18C-E7BEE6135B0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123E09A-B35A-5E07-4F52-D6602A208DA1}"/>
              </a:ext>
            </a:extLst>
          </p:cNvPr>
          <p:cNvSpPr/>
          <p:nvPr/>
        </p:nvSpPr>
        <p:spPr>
          <a:xfrm>
            <a:off x="3653" y="3653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7A7EA7C2-1225-02C7-E732-E92ECC7B9B8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2600" dirty="0">
              <a:ea typeface="Calibri"/>
              <a:cs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32FE126-519D-5D1D-426C-F74267B7F79F}"/>
              </a:ext>
            </a:extLst>
          </p:cNvPr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85DBEC4-C53D-9643-98F7-4442C039B6A9}"/>
              </a:ext>
            </a:extLst>
          </p:cNvPr>
          <p:cNvSpPr/>
          <p:nvPr/>
        </p:nvSpPr>
        <p:spPr>
          <a:xfrm>
            <a:off x="341606" y="960120"/>
            <a:ext cx="8237363" cy="320471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67135B3-CB04-75BA-5B47-AB4F692A2940}"/>
              </a:ext>
            </a:extLst>
          </p:cNvPr>
          <p:cNvSpPr/>
          <p:nvPr/>
        </p:nvSpPr>
        <p:spPr>
          <a:xfrm>
            <a:off x="349413" y="952422"/>
            <a:ext cx="4231604" cy="341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  The Multi-Billion</a:t>
            </a:r>
            <a:r>
              <a:rPr lang="en-US" sz="24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Dollar Problem</a:t>
            </a:r>
            <a:endParaRPr lang="en-US" sz="2400" b="1">
              <a:solidFill>
                <a:srgbClr val="0D1B2A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9EF0F-8A30-341A-B240-48392D0E47EE}"/>
              </a:ext>
            </a:extLst>
          </p:cNvPr>
          <p:cNvSpPr txBox="1"/>
          <p:nvPr/>
        </p:nvSpPr>
        <p:spPr>
          <a:xfrm>
            <a:off x="366147" y="2031965"/>
            <a:ext cx="518837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buFont typeface="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Churn is the single largest threat to telecom profitability.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>
              <a:buFont typeface="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l">
              <a:buFont typeface="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Getting</a:t>
            </a:r>
            <a:r>
              <a:rPr lang="en-US" b="0" i="0" dirty="0">
                <a:latin typeface="Calibri"/>
                <a:ea typeface="Calibri"/>
                <a:cs typeface="Calibri"/>
              </a:rPr>
              <a:t> a new customer costs </a:t>
            </a:r>
            <a:r>
              <a:rPr lang="en-US" b="1" i="0" dirty="0">
                <a:latin typeface="Calibri"/>
                <a:ea typeface="Calibri"/>
                <a:cs typeface="Calibri"/>
              </a:rPr>
              <a:t>5-25x more</a:t>
            </a:r>
            <a:r>
              <a:rPr lang="en-US" b="0" i="0" dirty="0">
                <a:latin typeface="Calibri"/>
                <a:ea typeface="Calibri"/>
                <a:cs typeface="Calibri"/>
              </a:rPr>
              <a:t> than </a:t>
            </a:r>
            <a:r>
              <a:rPr lang="en-US" dirty="0">
                <a:latin typeface="Calibri"/>
                <a:ea typeface="Calibri"/>
                <a:cs typeface="Calibri"/>
              </a:rPr>
              <a:t>keeping</a:t>
            </a:r>
            <a:r>
              <a:rPr lang="en-US" b="0" i="0" dirty="0">
                <a:latin typeface="Calibri"/>
                <a:ea typeface="Calibri"/>
                <a:cs typeface="Calibri"/>
              </a:rPr>
              <a:t> an existing one.</a:t>
            </a:r>
          </a:p>
          <a:p>
            <a:pPr>
              <a:buFont typeface="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l">
              <a:buFont typeface=""/>
              <a:buChar char="•"/>
            </a:pPr>
            <a:r>
              <a:rPr lang="en-US" b="0" i="0">
                <a:latin typeface="Calibri"/>
                <a:ea typeface="Calibri"/>
                <a:cs typeface="Calibri"/>
              </a:rPr>
              <a:t>High competition makes it easier for customers to switch providers.</a:t>
            </a:r>
            <a:endParaRPr lang="en-US" b="0" i="0" dirty="0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11" name="Picture 10" descr="A bucket of water with people in it&#10;&#10;AI-generated content may be incorrect.">
            <a:extLst>
              <a:ext uri="{FF2B5EF4-FFF2-40B4-BE49-F238E27FC236}">
                <a16:creationId xmlns:a16="http://schemas.microsoft.com/office/drawing/2014/main" id="{01A448DF-B6C8-3AF9-A20A-61DFEBD54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788" y="2029657"/>
            <a:ext cx="3623096" cy="192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5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554480" cy="10972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5C4AE4">
              <a:alpha val="20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298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rows × 21 features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39112" y="9601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39112" y="960120"/>
            <a:ext cx="155448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42032" y="1234440"/>
            <a:ext cx="548640" cy="54864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29844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39112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039112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039112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 &amp; scale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for class balance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758184" y="9601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758184" y="960120"/>
            <a:ext cx="1554480" cy="109728"/>
          </a:xfrm>
          <a:prstGeom prst="rect">
            <a:avLst/>
          </a:prstGeom>
          <a:solidFill>
            <a:srgbClr val="F7971E"/>
          </a:solidFill>
          <a:ln w="12700">
            <a:solidFill>
              <a:srgbClr val="F797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261104" y="1234440"/>
            <a:ext cx="548640" cy="548640"/>
          </a:xfrm>
          <a:prstGeom prst="ellipse">
            <a:avLst/>
          </a:prstGeom>
          <a:solidFill>
            <a:srgbClr val="F7971E">
              <a:alpha val="20000"/>
            </a:srgbClr>
          </a:solidFill>
          <a:ln w="12700">
            <a:solidFill>
              <a:srgbClr val="F797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129844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58184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9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3758184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758184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churn patterns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features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77256" y="9601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77256" y="960120"/>
            <a:ext cx="1554480" cy="109728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980176" y="1234440"/>
            <a:ext cx="548640" cy="548640"/>
          </a:xfrm>
          <a:prstGeom prst="ellipse">
            <a:avLst/>
          </a:prstGeom>
          <a:solidFill>
            <a:srgbClr val="F5576C">
              <a:alpha val="2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298448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77256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5477256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77256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 trained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compared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196328" y="9601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196328" y="960120"/>
            <a:ext cx="1554480" cy="109728"/>
          </a:xfrm>
          <a:prstGeom prst="rect">
            <a:avLst/>
          </a:prstGeom>
          <a:solidFill>
            <a:srgbClr val="8B7CF8"/>
          </a:solidFill>
          <a:ln w="12700">
            <a:solidFill>
              <a:srgbClr val="8B7C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699248" y="1234440"/>
            <a:ext cx="548640" cy="548640"/>
          </a:xfrm>
          <a:prstGeom prst="ellipse">
            <a:avLst/>
          </a:prstGeom>
          <a:solidFill>
            <a:srgbClr val="8B7CF8">
              <a:alpha val="20000"/>
            </a:srgbClr>
          </a:solidFill>
          <a:ln w="12700">
            <a:solidFill>
              <a:srgbClr val="8B7C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1298448"/>
            <a:ext cx="420624" cy="42062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96328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7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Text 30"/>
          <p:cNvSpPr/>
          <p:nvPr/>
        </p:nvSpPr>
        <p:spPr>
          <a:xfrm>
            <a:off x="7196328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196328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recommendations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IBM Telco Customer Churn (Kaggle)  |  Target: Predict customer churn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88725" y="952292"/>
            <a:ext cx="2011680" cy="1836628"/>
          </a:xfrm>
          <a:prstGeom prst="rect">
            <a:avLst/>
          </a:prstGeom>
          <a:solidFill>
            <a:srgbClr val="1A2740"/>
          </a:solidFill>
          <a:ln w="25400">
            <a:solidFill>
              <a:srgbClr val="F557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918252"/>
            <a:ext cx="1988194" cy="1836628"/>
          </a:xfrm>
          <a:prstGeom prst="rect">
            <a:avLst/>
          </a:prstGeom>
          <a:solidFill>
            <a:srgbClr val="1A2740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3108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2.73:1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SEGMENTS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294565"/>
            <a:ext cx="3291840" cy="1840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contracts: 42.7%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internet: 41.9%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payments: 45.3%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support: ~42%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citizens: 41.7%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(&lt; 12 months)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CHURN SEGMENTS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1302394"/>
            <a:ext cx="2743200" cy="1609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contracts: ~3%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internet: ~19%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add-on services (security/backup)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 (48+ months)</a:t>
            </a:r>
            <a:endParaRPr lang="en-US" sz="125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3444063735"/>
              </p:ext>
            </p:extLst>
          </p:nvPr>
        </p:nvGraphicFramePr>
        <p:xfrm>
          <a:off x="2606040" y="3143093"/>
          <a:ext cx="62179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Picture 14" descr="A green and red pie chart&#10;&#10;AI-generated content may be incorrect.">
            <a:extLst>
              <a:ext uri="{FF2B5EF4-FFF2-40B4-BE49-F238E27FC236}">
                <a16:creationId xmlns:a16="http://schemas.microsoft.com/office/drawing/2014/main" id="{2F8F7C35-026E-4AAE-00CB-DC464DFE2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40" y="956872"/>
            <a:ext cx="2006644" cy="18284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Preprocessing</a:t>
            </a:r>
            <a:endParaRPr lang="en-US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B1CD80-89E4-9A7B-E2A8-F6867CC196E9}"/>
              </a:ext>
            </a:extLst>
          </p:cNvPr>
          <p:cNvGrpSpPr/>
          <p:nvPr/>
        </p:nvGrpSpPr>
        <p:grpSpPr>
          <a:xfrm>
            <a:off x="367012" y="2925140"/>
            <a:ext cx="2651760" cy="1737360"/>
            <a:chOff x="320040" y="960120"/>
            <a:chExt cx="2651760" cy="1737360"/>
          </a:xfrm>
        </p:grpSpPr>
        <p:sp>
          <p:nvSpPr>
            <p:cNvPr id="4" name="Shape 2"/>
            <p:cNvSpPr/>
            <p:nvPr/>
          </p:nvSpPr>
          <p:spPr>
            <a:xfrm>
              <a:off x="320040" y="960120"/>
              <a:ext cx="2651760" cy="1737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C4AE4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320040" y="960120"/>
              <a:ext cx="2651760" cy="137160"/>
            </a:xfrm>
            <a:prstGeom prst="rect">
              <a:avLst/>
            </a:prstGeom>
            <a:solidFill>
              <a:srgbClr val="5C4AE4"/>
            </a:solidFill>
            <a:ln w="12700">
              <a:solidFill>
                <a:srgbClr val="5C4AE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29768" y="1161288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TotalCharges Fix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29768" y="1600200"/>
              <a:ext cx="2423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8892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Blank strings → NaN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8892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Imputed with tenure × MonthlyCharges</a:t>
              </a:r>
              <a:endParaRPr lang="en-US" sz="115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3172968" y="960120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65176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82696" y="11612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AvgMonthlyCharge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82696" y="1600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÷ tenure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spending trend per month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7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25896" y="960120"/>
            <a:ext cx="2651760" cy="137160"/>
          </a:xfrm>
          <a:prstGeom prst="rect">
            <a:avLst/>
          </a:prstGeom>
          <a:solidFill>
            <a:srgbClr val="F7971E"/>
          </a:solidFill>
          <a:ln w="12700">
            <a:solidFill>
              <a:srgbClr val="F797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35624" y="11612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35624" y="1600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active services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(Phone, Internet, Security, etc.)</a:t>
            </a:r>
            <a:endParaRPr lang="en-US" sz="115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1DECDB3-6783-05AF-2129-25A6B16E61F1}"/>
              </a:ext>
            </a:extLst>
          </p:cNvPr>
          <p:cNvGrpSpPr/>
          <p:nvPr/>
        </p:nvGrpSpPr>
        <p:grpSpPr>
          <a:xfrm>
            <a:off x="367013" y="961059"/>
            <a:ext cx="2651760" cy="1737360"/>
            <a:chOff x="320040" y="2926080"/>
            <a:chExt cx="2651760" cy="1737360"/>
          </a:xfrm>
        </p:grpSpPr>
        <p:sp>
          <p:nvSpPr>
            <p:cNvPr id="16" name="Shape 14"/>
            <p:cNvSpPr/>
            <p:nvPr/>
          </p:nvSpPr>
          <p:spPr>
            <a:xfrm>
              <a:off x="320040" y="2926080"/>
              <a:ext cx="2651760" cy="1737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5576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926080"/>
              <a:ext cx="2651760" cy="137160"/>
            </a:xfrm>
            <a:prstGeom prst="rect">
              <a:avLst/>
            </a:prstGeom>
            <a:solidFill>
              <a:srgbClr val="F5576C"/>
            </a:solidFill>
            <a:ln w="12700">
              <a:solidFill>
                <a:srgbClr val="F5576C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29768" y="3127248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TenureGroup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29768" y="3566160"/>
              <a:ext cx="2423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8892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Binned: 0–12, 13–24, 25–48,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dirty="0">
                  <a:solidFill>
                    <a:srgbClr val="8892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49–60, 61–72 months</a:t>
              </a:r>
              <a:endParaRPr lang="en-US" sz="115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3172968" y="2926080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72968" y="2926080"/>
            <a:ext cx="2651760" cy="137160"/>
          </a:xfrm>
          <a:prstGeom prst="rect">
            <a:avLst/>
          </a:prstGeom>
          <a:solidFill>
            <a:srgbClr val="8B7CF8"/>
          </a:solidFill>
          <a:ln w="12700">
            <a:solidFill>
              <a:srgbClr val="8B7C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82696" y="31272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82696" y="3566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training set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Churn: Yes = 1:1 ratio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25896" y="2926080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25896" y="2926080"/>
            <a:ext cx="2651760" cy="137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35624" y="31272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35624" y="3566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→ numeric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5448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667E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554480" cy="1097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interpretable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39112" y="960120"/>
            <a:ext cx="155448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43E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39112" y="960120"/>
            <a:ext cx="1554480" cy="109728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39112" y="11155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39112" y="1664208"/>
            <a:ext cx="15544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8892A4"/>
                </a:solidFill>
                <a:ea typeface="+mn-lt"/>
                <a:cs typeface="+mn-lt"/>
              </a:rPr>
              <a:t>Random Forest builds 200 decision trees independently and combines their votes.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58184" y="960120"/>
            <a:ext cx="155448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F797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58184" y="960120"/>
            <a:ext cx="1554480" cy="109728"/>
          </a:xfrm>
          <a:prstGeom prst="rect">
            <a:avLst/>
          </a:prstGeom>
          <a:solidFill>
            <a:srgbClr val="F7971E"/>
          </a:solidFill>
          <a:ln w="12700">
            <a:solidFill>
              <a:srgbClr val="F797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8184" y="11155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58184" y="1653425"/>
            <a:ext cx="1565263" cy="876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dirty="0">
                <a:solidFill>
                  <a:srgbClr val="8892A4"/>
                </a:solidFill>
                <a:ea typeface="+mn-lt"/>
                <a:cs typeface="+mn-lt"/>
              </a:rPr>
              <a:t>SVM finds the optimal boundary that separates churners from </a:t>
            </a:r>
            <a:r>
              <a:rPr lang="en-US" sz="1050">
                <a:solidFill>
                  <a:srgbClr val="8892A4"/>
                </a:solidFill>
                <a:ea typeface="+mn-lt"/>
                <a:cs typeface="+mn-lt"/>
              </a:rPr>
              <a:t>non-churners.</a:t>
            </a:r>
          </a:p>
          <a:p>
            <a:pPr algn="ctr"/>
            <a:endParaRPr lang="en-US" sz="1050" dirty="0">
              <a:solidFill>
                <a:srgbClr val="8892A4"/>
              </a:solidFill>
              <a:ea typeface="+mn-lt"/>
              <a:cs typeface="+mn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77256" y="960120"/>
            <a:ext cx="155448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F557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77256" y="960120"/>
            <a:ext cx="1554480" cy="109728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77256" y="1115568"/>
            <a:ext cx="1554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XGBoost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77256" y="1664208"/>
            <a:ext cx="15544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dirty="0">
                <a:solidFill>
                  <a:srgbClr val="8892A4"/>
                </a:solidFill>
                <a:ea typeface="+mn-lt"/>
                <a:cs typeface="+mn-lt"/>
              </a:rPr>
              <a:t>XGBoost builds trees sequentially — each new tree corrects the mistakes of the previous one. 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196328" y="960120"/>
            <a:ext cx="155448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4FAC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96328" y="960120"/>
            <a:ext cx="1554480" cy="109728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96328" y="1115568"/>
            <a:ext cx="1554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LightGBM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96328" y="1664208"/>
            <a:ext cx="15544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dirty="0">
                <a:solidFill>
                  <a:srgbClr val="8892A4"/>
                </a:solidFill>
                <a:ea typeface="+mn-lt"/>
                <a:cs typeface="+mn-lt"/>
              </a:rPr>
              <a:t>LightGBM does the same thing as XGBoost but grows trees leaf-wise instead of level-wise, making it significantly faster.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0040" y="30175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7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1417320" cy="822960"/>
          </a:xfrm>
          <a:prstGeom prst="rect">
            <a:avLst/>
          </a:prstGeom>
          <a:solidFill>
            <a:srgbClr val="5C4AE4">
              <a:alpha val="70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4290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42900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039112" y="3429000"/>
            <a:ext cx="1417320" cy="822960"/>
          </a:xfrm>
          <a:prstGeom prst="rect">
            <a:avLst/>
          </a:prstGeom>
          <a:solidFill>
            <a:srgbClr val="5C4AE4">
              <a:alpha val="70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39112" y="34290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56432" y="342900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58184" y="3429000"/>
            <a:ext cx="1417320" cy="822960"/>
          </a:xfrm>
          <a:prstGeom prst="rect">
            <a:avLst/>
          </a:prstGeom>
          <a:solidFill>
            <a:srgbClr val="5C4AE4">
              <a:alpha val="70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58184" y="34290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75504" y="342900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77256" y="3429000"/>
            <a:ext cx="1417320" cy="822960"/>
          </a:xfrm>
          <a:prstGeom prst="rect">
            <a:avLst/>
          </a:prstGeom>
          <a:solidFill>
            <a:srgbClr val="5C4AE4">
              <a:alpha val="70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77256" y="34290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4576" y="3429000"/>
            <a:ext cx="301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196328" y="3429000"/>
            <a:ext cx="1417320" cy="822960"/>
          </a:xfrm>
          <a:prstGeom prst="rect">
            <a:avLst/>
          </a:prstGeom>
          <a:solidFill>
            <a:srgbClr val="5C4AE4">
              <a:alpha val="70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96328" y="34290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train-test split  |  SMOTE applied only on training data  |  Metrics: Accuracy, Precision, Recall, F1, ROC-AUC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789395"/>
              </p:ext>
            </p:extLst>
          </p:nvPr>
        </p:nvGraphicFramePr>
        <p:xfrm>
          <a:off x="320040" y="914400"/>
          <a:ext cx="8503920" cy="23042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0.617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 </a:t>
                      </a:r>
                      <a:endParaRPr lang="en-US" sz="1250" b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0.619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SVM </a:t>
                      </a:r>
                      <a:endParaRPr lang="en-US" sz="1300" b="0" i="0" u="none" strike="noStrike" noProof="0" dirty="0">
                        <a:solidFill>
                          <a:srgbClr val="5C4AE4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0.622</a:t>
                      </a:r>
                      <a:endParaRPr lang="en-US" sz="125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XGBoost 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78%</a:t>
                      </a:r>
                      <a:endParaRPr lang="en-US" sz="125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0.576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LightGBM</a:t>
                      </a:r>
                      <a:endParaRPr lang="en-US" sz="1250" b="0" dirty="0" err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78%</a:t>
                      </a:r>
                      <a:endParaRPr lang="en-US" sz="125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0.585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Top Churn Drivers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Top 10 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Contract_Two-year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29007" y="1686379"/>
            <a:ext cx="2795016" cy="201168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Contract_One-year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4664" y="2011680"/>
            <a:ext cx="1962912" cy="201168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53296" y="199859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4664" y="2329152"/>
            <a:ext cx="1877568" cy="20116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4069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44664" y="2764056"/>
            <a:ext cx="1621536" cy="20116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13694" y="2696165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AvgMonthlyCharge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4664" y="3120672"/>
            <a:ext cx="1386840" cy="20116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02484" y="30840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NumServices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29007" y="3485117"/>
            <a:ext cx="1152144" cy="20116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7788" y="34798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758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InternetService_Fiber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44664" y="3896534"/>
            <a:ext cx="1002792" cy="20116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79293" y="3891273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OnlineSecurity_Yes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44664" y="4229664"/>
            <a:ext cx="832104" cy="20116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24262" y="4193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471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TechSupport_Yes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44664" y="4539307"/>
            <a:ext cx="704088" cy="201168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72760" y="4541875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1402790"/>
            <a:ext cx="2926080" cy="594360"/>
          </a:xfrm>
          <a:prstGeom prst="rect">
            <a:avLst/>
          </a:prstGeom>
          <a:solidFill>
            <a:srgbClr val="1A2740"/>
          </a:solidFill>
          <a:ln w="635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80760" y="13350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📋  Contract type is the #2 predictor of churn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943600" y="2011680"/>
            <a:ext cx="2926080" cy="594360"/>
          </a:xfrm>
          <a:prstGeom prst="rect">
            <a:avLst/>
          </a:prstGeom>
          <a:solidFill>
            <a:srgbClr val="1A2740"/>
          </a:solidFill>
          <a:ln w="635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80760" y="2084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Tenure strongly inversely correlated with churn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2761488"/>
            <a:ext cx="2926080" cy="594360"/>
          </a:xfrm>
          <a:prstGeom prst="rect">
            <a:avLst/>
          </a:prstGeom>
          <a:solidFill>
            <a:srgbClr val="1A2740"/>
          </a:solidFill>
          <a:ln w="635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80760" y="2834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Fiber optic users at high risk — quality issues?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3511296"/>
            <a:ext cx="2926080" cy="594360"/>
          </a:xfrm>
          <a:prstGeom prst="rect">
            <a:avLst/>
          </a:prstGeom>
          <a:solidFill>
            <a:srgbClr val="1A2740"/>
          </a:solidFill>
          <a:ln w="635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80760" y="3584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&amp; Tech Support reduce churn significantly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4261104"/>
            <a:ext cx="2926080" cy="594360"/>
          </a:xfrm>
          <a:prstGeom prst="rect">
            <a:avLst/>
          </a:prstGeom>
          <a:solidFill>
            <a:srgbClr val="1A2740"/>
          </a:solidFill>
          <a:ln w="6350">
            <a:solidFill>
              <a:srgbClr val="8B7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80760" y="43342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High monthly charges correlate with churn</a:t>
            </a:r>
            <a:endParaRPr lang="en-US" sz="11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2824696-DD19-538F-FA1F-169ED7164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89" y="876039"/>
            <a:ext cx="5075391" cy="4166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Live Application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7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deployed as a Streamlit web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965960" cy="1463040"/>
          </a:xfrm>
          <a:prstGeom prst="rect">
            <a:avLst/>
          </a:prstGeom>
          <a:solidFill>
            <a:srgbClr val="1A274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1965960" cy="1463040"/>
          </a:xfrm>
          <a:prstGeom prst="rect">
            <a:avLst/>
          </a:prstGeom>
          <a:solidFill>
            <a:srgbClr val="1A274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 b="1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Random Forest</a:t>
            </a: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2331720"/>
            <a:ext cx="19659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892A4"/>
                </a:solidFill>
                <a:latin typeface="Calibri"/>
                <a:ea typeface="Calibri"/>
                <a:cs typeface="Calibri"/>
              </a:rPr>
              <a:t>77% accuracy, AUC 0.84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17720" y="1508760"/>
            <a:ext cx="1965960" cy="1463040"/>
          </a:xfrm>
          <a:prstGeom prst="rect">
            <a:avLst/>
          </a:prstGeom>
          <a:solidFill>
            <a:srgbClr val="1A274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input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508760"/>
            <a:ext cx="1965960" cy="1463040"/>
          </a:xfrm>
          <a:prstGeom prst="rect">
            <a:avLst/>
          </a:prstGeom>
          <a:solidFill>
            <a:srgbClr val="1A274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5544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segment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154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1463040" cy="822960"/>
          </a:xfrm>
          <a:prstGeom prst="rect">
            <a:avLst/>
          </a:prstGeom>
          <a:solidFill>
            <a:srgbClr val="5C4AE4">
              <a:alpha val="75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566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Customer Details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356616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039112" y="3566160"/>
            <a:ext cx="1463040" cy="822960"/>
          </a:xfrm>
          <a:prstGeom prst="rect">
            <a:avLst/>
          </a:prstGeom>
          <a:solidFill>
            <a:srgbClr val="5C4AE4">
              <a:alpha val="75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39112" y="3566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Encode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02152" y="356616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58184" y="3566160"/>
            <a:ext cx="1463040" cy="822960"/>
          </a:xfrm>
          <a:prstGeom prst="rect">
            <a:avLst/>
          </a:prstGeom>
          <a:solidFill>
            <a:srgbClr val="5C4AE4">
              <a:alpha val="75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58184" y="3566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21224" y="356616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477256" y="3566160"/>
            <a:ext cx="1463040" cy="822960"/>
          </a:xfrm>
          <a:prstGeom prst="rect">
            <a:avLst/>
          </a:prstGeom>
          <a:solidFill>
            <a:srgbClr val="5C4AE4">
              <a:alpha val="75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77256" y="3566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Churn Risk 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0296" y="356616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196328" y="3566160"/>
            <a:ext cx="1463040" cy="822960"/>
          </a:xfrm>
          <a:prstGeom prst="rect">
            <a:avLst/>
          </a:prstGeom>
          <a:solidFill>
            <a:srgbClr val="5C4AE4">
              <a:alpha val="75000"/>
            </a:srgbClr>
          </a:solidFill>
          <a:ln w="12700">
            <a:solidFill>
              <a:srgbClr val="8B7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96328" y="3566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Advice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app.py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07C436-EE09-FD26-AAEE-4E9A33987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6" y="-3774"/>
            <a:ext cx="9139302" cy="2950828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620BC3-F464-6C12-F123-554B5AA37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65" y="2945173"/>
            <a:ext cx="4575130" cy="219677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DCEFD4-FB86-A6BC-D3DC-C9D444B0D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434" y="2945254"/>
            <a:ext cx="4566965" cy="219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46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B7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470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26.5%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with SMOTE oversampling for better model recall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624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Best Performers: Random Forest</a:t>
            </a:r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8892A4"/>
                </a:solidFill>
                <a:latin typeface="Calibri"/>
                <a:ea typeface="Calibri"/>
                <a:cs typeface="Calibri"/>
              </a:rPr>
              <a:t>77% accuracy, F1 Score of 0.62 on held-out test data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4015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tenure, internet service type, and add-on services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420624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1788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480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predicts churn probability for any customer profile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C4AE4"/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Telecom  |  Capstone Project — Predictive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E1F3F20D-12B0-CF27-2275-5773E614C238}"/>
              </a:ext>
            </a:extLst>
          </p:cNvPr>
          <p:cNvSpPr/>
          <p:nvPr/>
        </p:nvSpPr>
        <p:spPr>
          <a:xfrm>
            <a:off x="152400" y="152400"/>
            <a:ext cx="9010911" cy="501824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226E537C-10FD-7E63-EF2C-399CD62BE2EE}"/>
              </a:ext>
            </a:extLst>
          </p:cNvPr>
          <p:cNvSpPr/>
          <p:nvPr/>
        </p:nvSpPr>
        <p:spPr>
          <a:xfrm>
            <a:off x="304800" y="304800"/>
            <a:ext cx="8854336" cy="483035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6DFF2112-76D2-C814-6E2E-57AE2FB55D7C}"/>
              </a:ext>
            </a:extLst>
          </p:cNvPr>
          <p:cNvSpPr/>
          <p:nvPr/>
        </p:nvSpPr>
        <p:spPr>
          <a:xfrm>
            <a:off x="457200" y="457200"/>
            <a:ext cx="8682103" cy="470509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7CC7BA4C-D561-EE35-FBCB-9F7229F278F8}"/>
              </a:ext>
            </a:extLst>
          </p:cNvPr>
          <p:cNvSpPr/>
          <p:nvPr/>
        </p:nvSpPr>
        <p:spPr>
          <a:xfrm>
            <a:off x="609600" y="609600"/>
            <a:ext cx="8549014" cy="4548514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6B049B34-3D4F-FCA3-0C93-5F5DA8122F17}"/>
              </a:ext>
            </a:extLst>
          </p:cNvPr>
          <p:cNvSpPr/>
          <p:nvPr/>
        </p:nvSpPr>
        <p:spPr>
          <a:xfrm>
            <a:off x="762000" y="762000"/>
            <a:ext cx="8392439" cy="4391939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4A914408-3F4D-AA0F-20D0-9D722FCDA1E8}"/>
              </a:ext>
            </a:extLst>
          </p:cNvPr>
          <p:cNvSpPr/>
          <p:nvPr/>
        </p:nvSpPr>
        <p:spPr>
          <a:xfrm>
            <a:off x="914400" y="914400"/>
            <a:ext cx="8243692" cy="4235364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71822718-9900-EB7B-167F-BE2EE5DA7470}"/>
              </a:ext>
            </a:extLst>
          </p:cNvPr>
          <p:cNvSpPr/>
          <p:nvPr/>
        </p:nvSpPr>
        <p:spPr>
          <a:xfrm>
            <a:off x="1066800" y="1066800"/>
            <a:ext cx="8079288" cy="4070959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27FFB9C-AA7E-F22B-87E4-1F63AFC2BD7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1B08296F-D33B-74E1-D034-D768D8038FD7}"/>
              </a:ext>
            </a:extLst>
          </p:cNvPr>
          <p:cNvSpPr/>
          <p:nvPr/>
        </p:nvSpPr>
        <p:spPr>
          <a:xfrm>
            <a:off x="3653" y="3653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F4D6DE4D-5D2A-659A-89FE-1E21CCCBC53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5C26E28D-AA46-887B-EB4A-908855CED3D6}"/>
              </a:ext>
            </a:extLst>
          </p:cNvPr>
          <p:cNvSpPr/>
          <p:nvPr/>
        </p:nvSpPr>
        <p:spPr>
          <a:xfrm>
            <a:off x="3653" y="3653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8934E355-1888-8794-83F7-4AF5AD1ADA0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96E22EF6-107B-1011-FC76-23E0275CDD9D}"/>
              </a:ext>
            </a:extLst>
          </p:cNvPr>
          <p:cNvSpPr/>
          <p:nvPr/>
        </p:nvSpPr>
        <p:spPr>
          <a:xfrm>
            <a:off x="3653" y="3653"/>
            <a:ext cx="9144000" cy="5135671"/>
          </a:xfrm>
          <a:prstGeom prst="rect">
            <a:avLst/>
          </a:prstGeom>
          <a:solidFill>
            <a:srgbClr val="5C4AE4">
              <a:alpha val="18000"/>
            </a:srgbClr>
          </a:solidFill>
          <a:ln w="12700">
            <a:solidFill>
              <a:srgbClr val="5C4AE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6420D527-EF49-C69B-8183-ABF48E50D8EA}"/>
              </a:ext>
            </a:extLst>
          </p:cNvPr>
          <p:cNvSpPr/>
          <p:nvPr/>
        </p:nvSpPr>
        <p:spPr>
          <a:xfrm>
            <a:off x="1798424" y="2293954"/>
            <a:ext cx="4244758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You...</a:t>
            </a:r>
            <a:endParaRPr lang="en-US" sz="4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0088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710</Words>
  <Application>Microsoft Office PowerPoint</Application>
  <PresentationFormat>On-screen Show (16:9)</PresentationFormat>
  <Paragraphs>220</Paragraphs>
  <Slides>12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— Telecom</dc:title>
  <dc:subject>PptxGenJS Presentation</dc:subject>
  <dc:creator>PptxGenJS</dc:creator>
  <cp:lastModifiedBy>ABHIRAJ S</cp:lastModifiedBy>
  <cp:revision>102</cp:revision>
  <cp:lastPrinted>2026-04-21T02:36:31Z</cp:lastPrinted>
  <dcterms:created xsi:type="dcterms:W3CDTF">2026-04-20T12:47:23Z</dcterms:created>
  <dcterms:modified xsi:type="dcterms:W3CDTF">2026-04-28T05:11:25Z</dcterms:modified>
</cp:coreProperties>
</file>